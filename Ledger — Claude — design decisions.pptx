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single most important slide. If they remember one thing, it is that I reframed a display problem into a decision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Explicit assumptions let the design be concrete. They also show I know what I am choosing not to solve.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Hierarchy is the whole game here. The strip is the answer, the page below it is the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decision I would lead with if asked what I am most pleased with.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brief explicitly asked about empty states, so this is a direct answer with an extra idea attached.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brief lists error as a state to consider. This is the fairness argument for why it deserves its own treatment rather than being folded into empty.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Fairness is a design constraint here, not a compliance checkbox.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that answers whether I can work inside a team rather than only produce a screen.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Very few take home submissions can show a failed audit and the fix. That is the point of including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Being able to defend an omission is as strong a signal as the work itself.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1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828800"/>
            <a:ext cx="6766560" cy="6766560"/>
          </a:xfrm>
          <a:prstGeom prst="ellipse">
            <a:avLst/>
          </a:prstGeom>
          <a:solidFill>
            <a:srgbClr val="1D2536"/>
          </a:solidFill>
          <a:ln w="12700">
            <a:solidFill>
              <a:srgbClr val="1D25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09760" y="2377440"/>
            <a:ext cx="4754880" cy="4754880"/>
          </a:xfrm>
          <a:prstGeom prst="ellipse">
            <a:avLst/>
          </a:prstGeom>
          <a:solidFill>
            <a:srgbClr val="232C40"/>
          </a:solidFill>
          <a:ln w="12700">
            <a:solidFill>
              <a:srgbClr val="232C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417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60" kern="0" dirty="0">
                <a:solidFill>
                  <a:srgbClr val="8FA6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DESIGN ENGINEER EXERCISE  ·  OPTION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1828800"/>
            <a:ext cx="7863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the work,</a:t>
            </a:r>
            <a:endParaRPr lang="en-US" sz="44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the tabs.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85800" y="3977640"/>
            <a:ext cx="6949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A9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 is a submission review surface for hiring teams. This deck covers the reframe, the decisions, and what I deliberately left out.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5943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40" kern="0" dirty="0">
                <a:solidFill>
                  <a:srgbClr val="6D7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SIDDHARTH   ·   FOR SCOPE   ·   JULY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240" kern="0" dirty="0">
                <a:solidFill>
                  <a:srgbClr val="3451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REFRAME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85800" y="777240"/>
            <a:ext cx="10424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11E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brief says showcase. The job is decide.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5257800" cy="3246120"/>
          </a:xfrm>
          <a:prstGeom prst="roundRect">
            <a:avLst>
              <a:gd name="adj" fmla="val 3944"/>
            </a:avLst>
          </a:prstGeom>
          <a:solidFill>
            <a:srgbClr val="FFFFFF"/>
          </a:solidFill>
          <a:ln w="9525">
            <a:solidFill>
              <a:srgbClr val="E4E1DB"/>
            </a:solidFill>
            <a:prstDash val="solid"/>
          </a:ln>
          <a:effectLst>
            <a:outerShdw sx="100000" sy="100000" kx="0" ky="0" algn="bl" rotWithShape="0" blurRad="228600" dist="76200" dir="5400000">
              <a:srgbClr val="262A48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21945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80" kern="0" dirty="0">
                <a:solidFill>
                  <a:srgbClr val="8A85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BRIEF AS WRITTEN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51560" y="2560320"/>
            <a:ext cx="4526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i="1" dirty="0">
                <a:solidFill>
                  <a:srgbClr val="211E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“Design a focused submission showcase experience.”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51560" y="3520440"/>
            <a:ext cx="4526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67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literally, this produces a page that displays things. A repo link, a description, some images. It is a container.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63640" y="1874520"/>
            <a:ext cx="5257800" cy="3246120"/>
          </a:xfrm>
          <a:prstGeom prst="roundRect">
            <a:avLst>
              <a:gd name="adj" fmla="val 3944"/>
            </a:avLst>
          </a:prstGeom>
          <a:solidFill>
            <a:srgbClr val="131722"/>
          </a:solidFill>
          <a:ln w="9525">
            <a:solidFill>
              <a:srgbClr val="131722"/>
            </a:solidFill>
            <a:prstDash val="solid"/>
          </a:ln>
          <a:effectLst>
            <a:outerShdw sx="100000" sy="100000" kx="0" ky="0" algn="bl" rotWithShape="0" blurRad="228600" dist="76200" dir="5400000">
              <a:srgbClr val="262A48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629400" y="21945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80" kern="0" dirty="0">
                <a:solidFill>
                  <a:srgbClr val="8FA6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THE REVIEWER ACTUALLY NEEDS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629400" y="2560320"/>
            <a:ext cx="4526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“Help me reach a fair verdict, fast, across twelve of these.”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629400" y="3520440"/>
            <a:ext cx="4526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9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a decision tool, not a container. It changes the hierarchy, the scoring, the empty states, and the keyboard model.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" y="54406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3451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decision in this deck ladders up to that second sentence.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240" kern="0" dirty="0">
                <a:solidFill>
                  <a:srgbClr val="3451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ASSUMPTIONS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85800" y="777240"/>
            <a:ext cx="10424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11E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decided to be true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10817352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4E1DB"/>
            </a:solidFill>
            <a:prstDash val="solid"/>
          </a:ln>
          <a:effectLst>
            <a:outerShdw sx="100000" sy="100000" kx="0" ky="0" algn="bl" rotWithShape="0" blurRad="228600" dist="76200" dir="5400000">
              <a:srgbClr val="262A48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78408" y="213055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34518F"/>
          </a:solidFill>
          <a:ln w="12700">
            <a:solidFill>
              <a:srgbClr val="3451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8408" y="21305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645920" y="207568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1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017520" y="205740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67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engineer or design lead, working a batch of ten to fifteen submissions in one sitting.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5800" y="2953512"/>
            <a:ext cx="10817352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4E1DB"/>
            </a:solidFill>
            <a:prstDash val="solid"/>
          </a:ln>
          <a:effectLst>
            <a:outerShdw sx="100000" sy="100000" kx="0" ky="0" algn="bl" rotWithShape="0" blurRad="228600" dist="76200" dir="5400000">
              <a:srgbClr val="262A48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78408" y="3209544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BEEF5"/>
          </a:solidFill>
          <a:ln w="12700">
            <a:solidFill>
              <a:srgbClr val="EBEE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78408" y="32095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451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645920" y="31546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1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017520" y="3136392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67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switching. Repo, deploy and video live in separate tabs and nothing holds them together.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85800" y="4032504"/>
            <a:ext cx="10817352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4E1DB"/>
            </a:solidFill>
            <a:prstDash val="solid"/>
          </a:ln>
          <a:effectLst>
            <a:outerShdw sx="100000" sy="100000" kx="0" ky="0" algn="bl" rotWithShape="0" blurRad="228600" dist="76200" dir="5400000">
              <a:srgbClr val="262A48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78408" y="4288536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34518F"/>
          </a:solidFill>
          <a:ln w="12700">
            <a:solidFill>
              <a:srgbClr val="3451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8408" y="42885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645920" y="42336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1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017520" y="4215384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67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Submissions are wildly uneven. Missing material is the normal case, not the edge case.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85800" y="5111496"/>
            <a:ext cx="10817352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4E1DB"/>
            </a:solidFill>
            <a:prstDash val="solid"/>
          </a:ln>
          <a:effectLst>
            <a:outerShdw sx="100000" sy="100000" kx="0" ky="0" algn="bl" rotWithShape="0" blurRad="228600" dist="76200" dir="5400000">
              <a:srgbClr val="262A48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78408" y="536752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BEEF5"/>
          </a:solidFill>
          <a:ln w="12700">
            <a:solidFill>
              <a:srgbClr val="EBEE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8408" y="53675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451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645920" y="531266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1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017520" y="5294376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67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lives inside a larger hiring tool. I designed the review surface and nothing else.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240" kern="0" dirty="0">
                <a:solidFill>
                  <a:srgbClr val="3451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 01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85800" y="777240"/>
            <a:ext cx="10424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11E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 three questions before any scrolling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3429000" cy="301752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9525">
            <a:solidFill>
              <a:srgbClr val="E4E1DB"/>
            </a:solidFill>
            <a:prstDash val="solid"/>
          </a:ln>
          <a:effectLst>
            <a:outerShdw sx="100000" sy="100000" kx="0" ky="0" algn="bl" rotWithShape="0" blurRad="228600" dist="76200" dir="5400000">
              <a:srgbClr val="262A48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194560"/>
            <a:ext cx="310896" cy="310896"/>
          </a:xfrm>
          <a:prstGeom prst="ellipse">
            <a:avLst/>
          </a:prstGeom>
          <a:solidFill>
            <a:srgbClr val="EBEEF5"/>
          </a:solidFill>
          <a:ln w="12700">
            <a:solidFill>
              <a:srgbClr val="D5DC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1945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451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435608" y="22128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8A85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DID THEY BUILD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005840" y="2697480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700" b="1" dirty="0">
                <a:solidFill>
                  <a:srgbClr val="211E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Multiplayer cursor canvas with live comments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" y="3703320"/>
            <a:ext cx="2788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67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text, because this is a description rather than a judgment.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79976" y="1874520"/>
            <a:ext cx="3429000" cy="301752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9525">
            <a:solidFill>
              <a:srgbClr val="E4E1DB"/>
            </a:solidFill>
            <a:prstDash val="solid"/>
          </a:ln>
          <a:effectLst>
            <a:outerShdw sx="100000" sy="100000" kx="0" ky="0" algn="bl" rotWithShape="0" blurRad="228600" dist="76200" dir="5400000">
              <a:srgbClr val="262A48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0016" y="2194560"/>
            <a:ext cx="310896" cy="310896"/>
          </a:xfrm>
          <a:prstGeom prst="ellipse">
            <a:avLst/>
          </a:prstGeom>
          <a:solidFill>
            <a:srgbClr val="EBEEF5"/>
          </a:solidFill>
          <a:ln w="12700">
            <a:solidFill>
              <a:srgbClr val="D5DC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0016" y="21945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451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129784" y="22128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8A85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DOES IT RUN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700016" y="2697480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700" b="1" dirty="0">
                <a:solidFill>
                  <a:srgbClr val="3C76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is live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700016" y="3703320"/>
            <a:ext cx="2788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67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Carries a status colour, because this is a judgment the tool can make for you.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074152" y="1874520"/>
            <a:ext cx="3429000" cy="301752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9525">
            <a:solidFill>
              <a:srgbClr val="E4E1DB"/>
            </a:solidFill>
            <a:prstDash val="solid"/>
          </a:ln>
          <a:effectLst>
            <a:outerShdw sx="100000" sy="100000" kx="0" ky="0" algn="bl" rotWithShape="0" blurRad="228600" dist="76200" dir="5400000">
              <a:srgbClr val="262A48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94192" y="2194560"/>
            <a:ext cx="310896" cy="310896"/>
          </a:xfrm>
          <a:prstGeom prst="ellipse">
            <a:avLst/>
          </a:prstGeom>
          <a:solidFill>
            <a:srgbClr val="EBEEF5"/>
          </a:solidFill>
          <a:ln w="12700">
            <a:solidFill>
              <a:srgbClr val="D5DC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94192" y="21945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451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823960" y="22128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8A85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STRONG IS THE SIGNAL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394192" y="2697480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700" b="1" dirty="0">
                <a:solidFill>
                  <a:srgbClr val="3C76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Loom, previews and README all present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394192" y="3703320"/>
            <a:ext cx="2788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67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 is separated from quality, so a thin submission is not mistaken for weak work.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85800" y="52120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67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reviewer with twelve submissions does not want a form. They want a verdict. Everything below this strip is progressive disclosure.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240" kern="0" dirty="0">
                <a:solidFill>
                  <a:srgbClr val="3451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 02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85800" y="777240"/>
            <a:ext cx="10424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11E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Separate what is proven from what is claimed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5257800" cy="2286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9525">
            <a:solidFill>
              <a:srgbClr val="E4E1DB"/>
            </a:solidFill>
            <a:prstDash val="solid"/>
          </a:ln>
          <a:effectLst>
            <a:outerShdw sx="100000" sy="100000" kx="0" ky="0" algn="bl" rotWithShape="0" blurRad="228600" dist="76200" dir="5400000">
              <a:srgbClr val="262A48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2148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80" kern="0" dirty="0">
                <a:solidFill>
                  <a:srgbClr val="3451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EVIDENCE LINKED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051560" y="2542032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EBEEF5"/>
          </a:solidFill>
          <a:ln w="12700">
            <a:solidFill>
              <a:srgbClr val="C9D3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54203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451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React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051560" y="3108960"/>
            <a:ext cx="4526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67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in the repository. The tool verified it, so the reviewer can trust it without checking.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63640" y="1874520"/>
            <a:ext cx="5257800" cy="2286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9525">
            <a:solidFill>
              <a:srgbClr val="E4E1DB"/>
            </a:solidFill>
            <a:prstDash val="solid"/>
          </a:ln>
          <a:effectLst>
            <a:outerShdw sx="100000" sy="100000" kx="0" ky="0" algn="bl" rotWithShape="0" blurRad="228600" dist="76200" dir="5400000">
              <a:srgbClr val="262A48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629400" y="2148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80" kern="0" dirty="0">
                <a:solidFill>
                  <a:srgbClr val="8A85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CLAIMED ONLY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629400" y="2542032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FBFAF6"/>
          </a:solidFill>
          <a:ln w="12700">
            <a:solidFill>
              <a:srgbClr val="C7C1B5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6629400" y="254203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7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629400" y="3108960"/>
            <a:ext cx="4526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67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Listed by the candidate, not auto verified. Shown honestly rather than quietly presented as fact.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85800" y="4389120"/>
            <a:ext cx="10817352" cy="1417320"/>
          </a:xfrm>
          <a:prstGeom prst="roundRect">
            <a:avLst>
              <a:gd name="adj" fmla="val 9032"/>
            </a:avLst>
          </a:prstGeom>
          <a:solidFill>
            <a:srgbClr val="131722"/>
          </a:solidFill>
          <a:ln w="9525">
            <a:solidFill>
              <a:srgbClr val="131722"/>
            </a:solidFill>
            <a:prstDash val="solid"/>
          </a:ln>
          <a:effectLst>
            <a:outerShdw sx="100000" sy="100000" kx="0" ky="0" algn="bl" rotWithShape="0" blurRad="228600" dist="76200" dir="5400000">
              <a:srgbClr val="262A48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051560" y="45902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51560" y="4919472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A9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tools tend to present everything a candidate typed as if it were fact. Marking the difference costs one visual token and changes how much weight a reviewer gives the rest of the page. It also nudges the product toward being trustworthy rather than merely complete.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240" kern="0" dirty="0">
                <a:solidFill>
                  <a:srgbClr val="3451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 03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85800" y="777240"/>
            <a:ext cx="10424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11E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gap, two audiences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5257800" cy="310896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9525">
            <a:solidFill>
              <a:srgbClr val="E4E1DB"/>
            </a:solidFill>
            <a:prstDash val="solid"/>
          </a:ln>
          <a:effectLst>
            <a:outerShdw sx="100000" sy="100000" kx="0" ky="0" algn="bl" rotWithShape="0" blurRad="228600" dist="76200" dir="5400000">
              <a:srgbClr val="262A48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2176272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80" kern="0" dirty="0">
                <a:solidFill>
                  <a:srgbClr val="8A85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THE REVIEWER SEES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51560" y="2542032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11E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walkthrough attached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051560" y="3017520"/>
            <a:ext cx="4526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i="1" dirty="0">
                <a:solidFill>
                  <a:srgbClr val="67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 are inferring intent from code alone, which is slower and less fair to them.”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3931920"/>
            <a:ext cx="4526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8A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the cost rather than leaving a blank box, so the reviewer can weigh it consciously.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874520"/>
            <a:ext cx="5257800" cy="3108960"/>
          </a:xfrm>
          <a:prstGeom prst="roundRect">
            <a:avLst>
              <a:gd name="adj" fmla="val 4118"/>
            </a:avLst>
          </a:prstGeom>
          <a:solidFill>
            <a:srgbClr val="EBEEF5"/>
          </a:solidFill>
          <a:ln w="9525">
            <a:solidFill>
              <a:srgbClr val="C9D3E8"/>
            </a:solidFill>
            <a:prstDash val="solid"/>
          </a:ln>
          <a:effectLst>
            <a:outerShdw sx="100000" sy="100000" kx="0" ky="0" algn="bl" rotWithShape="0" blurRad="228600" dist="76200" dir="5400000">
              <a:srgbClr val="262A48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629400" y="2176272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80" kern="0" dirty="0">
                <a:solidFill>
                  <a:srgbClr val="3451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THE CANDIDATE SEES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629400" y="2542032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451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a three minute walkthrough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629400" y="3017520"/>
            <a:ext cx="4526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i="1" dirty="0">
                <a:solidFill>
                  <a:srgbClr val="67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“Submissions with a walkthrough advance far more often.”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629400" y="3931920"/>
            <a:ext cx="4526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67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gap, used to raise the quality of the next batch instead of only penalising this one.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5800" y="530352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3451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Empty states are usually treated as failure. Here they are the mechanism that improves the input.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240" kern="0" dirty="0">
                <a:solidFill>
                  <a:srgbClr val="3451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 03b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85800" y="777240"/>
            <a:ext cx="10424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11E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 is not the same as empty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5257800" cy="28803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E4E1DB"/>
            </a:solidFill>
            <a:prstDash val="solid"/>
          </a:ln>
          <a:effectLst>
            <a:outerShdw sx="100000" sy="100000" kx="0" ky="0" algn="bl" rotWithShape="0" blurRad="228600" dist="76200" dir="5400000">
              <a:srgbClr val="262A48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214884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80" kern="0" dirty="0">
                <a:solidFill>
                  <a:srgbClr val="8A85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NEVER DEPLOYED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51560" y="2487168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11E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live demo linked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051560" y="2962656"/>
            <a:ext cx="4526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67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candidate never submitted a preview. That is a fact about their submission, and it legitimately weakens the signal.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3931920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8A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state, with a candidate facing prompt.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874520"/>
            <a:ext cx="5257800" cy="2880360"/>
          </a:xfrm>
          <a:prstGeom prst="roundRect">
            <a:avLst>
              <a:gd name="adj" fmla="val 4444"/>
            </a:avLst>
          </a:prstGeom>
          <a:solidFill>
            <a:srgbClr val="131722"/>
          </a:solidFill>
          <a:ln w="9525">
            <a:solidFill>
              <a:srgbClr val="131722"/>
            </a:solidFill>
            <a:prstDash val="solid"/>
          </a:ln>
          <a:effectLst>
            <a:outerShdw sx="100000" sy="100000" kx="0" ky="0" algn="bl" rotWithShape="0" blurRad="228600" dist="76200" dir="5400000">
              <a:srgbClr val="262A48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629400" y="214884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80" kern="0" dirty="0">
                <a:solidFill>
                  <a:srgbClr val="E8A4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RESOLVES, THEN FAILS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629400" y="2487168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deploy is not responding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629400" y="2962656"/>
            <a:ext cx="4526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A9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link worked once. A build can break between submission and review, so this may say nothing about the candidate at all.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629400" y="3931920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8FA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state. Build log, timestamp, and three ways forward.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5800" y="507492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3451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Collapsing the two would quietly punish a candidate for a broken pipeline. The error state says so in as many words.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240" kern="0" dirty="0">
                <a:solidFill>
                  <a:srgbClr val="3451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 04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85800" y="777240"/>
            <a:ext cx="10424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11E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Scoring built against bias, not for speed alone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10817352" cy="969264"/>
          </a:xfrm>
          <a:prstGeom prst="roundRect">
            <a:avLst>
              <a:gd name="adj" fmla="val 13208"/>
            </a:avLst>
          </a:prstGeom>
          <a:solidFill>
            <a:srgbClr val="FFFFFF"/>
          </a:solidFill>
          <a:ln w="9525">
            <a:solidFill>
              <a:srgbClr val="E4E1DB"/>
            </a:solidFill>
            <a:prstDash val="solid"/>
          </a:ln>
          <a:effectLst>
            <a:outerShdw sx="100000" sy="100000" kx="0" ky="0" algn="bl" rotWithShape="0" blurRad="228600" dist="76200" dir="5400000">
              <a:srgbClr val="262A48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96696" y="2176272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34518F"/>
          </a:solidFill>
          <a:ln w="12700">
            <a:solidFill>
              <a:srgbClr val="3451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96696" y="21762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600200" y="2057400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211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criteria, not one rating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852160" y="2057400"/>
            <a:ext cx="5349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7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five star score invites halo bias. Four axes force the reviewer to separate craft from communication.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5800" y="2971800"/>
            <a:ext cx="10817352" cy="969264"/>
          </a:xfrm>
          <a:prstGeom prst="roundRect">
            <a:avLst>
              <a:gd name="adj" fmla="val 13208"/>
            </a:avLst>
          </a:prstGeom>
          <a:solidFill>
            <a:srgbClr val="FFFFFF"/>
          </a:solidFill>
          <a:ln w="9525">
            <a:solidFill>
              <a:srgbClr val="E4E1DB"/>
            </a:solidFill>
            <a:prstDash val="solid"/>
          </a:ln>
          <a:effectLst>
            <a:outerShdw sx="100000" sy="100000" kx="0" ky="0" algn="bl" rotWithShape="0" blurRad="228600" dist="76200" dir="5400000">
              <a:srgbClr val="262A48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96696" y="3273552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34518F"/>
          </a:solidFill>
          <a:ln w="12700">
            <a:solidFill>
              <a:srgbClr val="3451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96696" y="32735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600200" y="3154680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211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scores require a reason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852160" y="3154680"/>
            <a:ext cx="5349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7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zero or one opens a required note. Feedback stays specific and defensible when a candidate asks why.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4069080"/>
            <a:ext cx="10817352" cy="969264"/>
          </a:xfrm>
          <a:prstGeom prst="roundRect">
            <a:avLst>
              <a:gd name="adj" fmla="val 13208"/>
            </a:avLst>
          </a:prstGeom>
          <a:solidFill>
            <a:srgbClr val="FFFFFF"/>
          </a:solidFill>
          <a:ln w="9525">
            <a:solidFill>
              <a:srgbClr val="E4E1DB"/>
            </a:solidFill>
            <a:prstDash val="solid"/>
          </a:ln>
          <a:effectLst>
            <a:outerShdw sx="100000" sy="100000" kx="0" ky="0" algn="bl" rotWithShape="0" blurRad="228600" dist="76200" dir="5400000">
              <a:srgbClr val="262A48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96696" y="4370832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34518F"/>
          </a:solidFill>
          <a:ln w="12700">
            <a:solidFill>
              <a:srgbClr val="3451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96696" y="43708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600200" y="4251960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211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 sits apart from quality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852160" y="4251960"/>
            <a:ext cx="5349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7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separate meter, so nobody is unconsciously penalised for a missing screenshot rather than weak work.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85800" y="5166360"/>
            <a:ext cx="10817352" cy="969264"/>
          </a:xfrm>
          <a:prstGeom prst="roundRect">
            <a:avLst>
              <a:gd name="adj" fmla="val 13208"/>
            </a:avLst>
          </a:prstGeom>
          <a:solidFill>
            <a:srgbClr val="FFFFFF"/>
          </a:solidFill>
          <a:ln w="9525">
            <a:solidFill>
              <a:srgbClr val="E4E1DB"/>
            </a:solidFill>
            <a:prstDash val="solid"/>
          </a:ln>
          <a:effectLst>
            <a:outerShdw sx="100000" sy="100000" kx="0" ky="0" algn="bl" rotWithShape="0" blurRad="228600" dist="76200" dir="5400000">
              <a:srgbClr val="262A48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96696" y="5468112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34518F"/>
          </a:solidFill>
          <a:ln w="12700">
            <a:solidFill>
              <a:srgbClr val="34518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96696" y="54681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600200" y="5349240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211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stays disabled until both exist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852160" y="5349240"/>
            <a:ext cx="5349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7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decision and at least one score. The tool refuses to record a verdict with nothing behind it.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240" kern="0" dirty="0">
                <a:solidFill>
                  <a:srgbClr val="3451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BUILT AS A SYSTEM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85800" y="777240"/>
            <a:ext cx="10424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11E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an engineer receives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3429000" cy="178308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ln w="9525">
            <a:solidFill>
              <a:srgbClr val="E4E1DB"/>
            </a:solidFill>
            <a:prstDash val="solid"/>
          </a:ln>
          <a:effectLst>
            <a:outerShdw sx="100000" sy="100000" kx="0" ky="0" algn="bl" rotWithShape="0" blurRad="228600" dist="76200" dir="5400000">
              <a:srgbClr val="262A48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96696" y="211226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51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Tokens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96696" y="2496312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67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for the job they do. surface raised, action primary, status caution. A second theme is a token swap, not a rewrite.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79976" y="1874520"/>
            <a:ext cx="3429000" cy="178308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ln w="9525">
            <a:solidFill>
              <a:srgbClr val="E4E1DB"/>
            </a:solidFill>
            <a:prstDash val="solid"/>
          </a:ln>
          <a:effectLst>
            <a:outerShdw sx="100000" sy="100000" kx="0" ky="0" algn="bl" rotWithShape="0" blurRad="228600" dist="76200" dir="5400000">
              <a:srgbClr val="262A48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90872" y="211226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51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Grid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690872" y="2496312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67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Twelve columns capped at 1240. Eight for evidence, four for the sticky evaluation rail. Stacks under 1080.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74152" y="1874520"/>
            <a:ext cx="3429000" cy="178308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ln w="9525">
            <a:solidFill>
              <a:srgbClr val="E4E1DB"/>
            </a:solidFill>
            <a:prstDash val="solid"/>
          </a:ln>
          <a:effectLst>
            <a:outerShdw sx="100000" sy="100000" kx="0" ky="0" algn="bl" rotWithShape="0" blurRad="228600" dist="76200" dir="5400000">
              <a:srgbClr val="262A48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385048" y="211226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51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Radius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385048" y="2496312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67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with footprint. Six on a chip, twenty two on a sheet. Uniform radius is the tell of a template.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85800" y="3831336"/>
            <a:ext cx="3429000" cy="178308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ln w="9525">
            <a:solidFill>
              <a:srgbClr val="E4E1DB"/>
            </a:solidFill>
            <a:prstDash val="solid"/>
          </a:ln>
          <a:effectLst>
            <a:outerShdw sx="100000" sy="100000" kx="0" ky="0" algn="bl" rotWithShape="0" blurRad="228600" dist="76200" dir="5400000">
              <a:srgbClr val="262A48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96696" y="40690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51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Motion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96696" y="4453128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67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Entrances ease out over 620ms and stagger by 60. Exits are faster. Duration scales with distance travelled.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379976" y="3831336"/>
            <a:ext cx="3429000" cy="178308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ln w="9525">
            <a:solidFill>
              <a:srgbClr val="E4E1DB"/>
            </a:solidFill>
            <a:prstDash val="solid"/>
          </a:ln>
          <a:effectLst>
            <a:outerShdw sx="100000" sy="100000" kx="0" ky="0" algn="bl" rotWithShape="0" blurRad="228600" dist="76200" dir="5400000">
              <a:srgbClr val="262A48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90872" y="40690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51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690872" y="4453128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67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Loading, needs review, reviewed, submitted, three empty states and a build error. Each documented with the edge case it handles.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074152" y="3831336"/>
            <a:ext cx="3429000" cy="178308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ln w="9525">
            <a:solidFill>
              <a:srgbClr val="E4E1DB"/>
            </a:solidFill>
            <a:prstDash val="solid"/>
          </a:ln>
          <a:effectLst>
            <a:outerShdw sx="100000" sy="100000" kx="0" ky="0" algn="bl" rotWithShape="0" blurRad="228600" dist="76200" dir="5400000">
              <a:srgbClr val="262A48">
                <a:alpha val="1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385048" y="40690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51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Accessibility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385048" y="4453128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67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written contract. Text never on glass. Reduced motion. Forced colours. One focus ring.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240" kern="0" dirty="0">
                <a:solidFill>
                  <a:srgbClr val="3451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MEASURED, NOT EYEBALLED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85800" y="777240"/>
            <a:ext cx="10424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11E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palette failed, so the palette changed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3337560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9525">
            <a:solidFill>
              <a:srgbClr val="E4E1DB"/>
            </a:solidFill>
            <a:prstDash val="solid"/>
          </a:ln>
          <a:effectLst>
            <a:outerShdw sx="100000" sy="100000" kx="0" ky="0" algn="bl" rotWithShape="0" blurRad="228600" dist="76200" dir="5400000">
              <a:srgbClr val="262A48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96696" y="210312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3451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996696" y="30175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7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pairings tested against WCAG AA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416552" y="1874520"/>
            <a:ext cx="3337560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9525">
            <a:solidFill>
              <a:srgbClr val="E4E1DB"/>
            </a:solidFill>
            <a:prstDash val="solid"/>
          </a:ln>
          <a:effectLst>
            <a:outerShdw sx="100000" sy="100000" kx="0" ky="0" algn="bl" rotWithShape="0" blurRad="228600" dist="76200" dir="5400000">
              <a:srgbClr val="262A48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27448" y="210312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B44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4727448" y="30175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7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on the first run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93024" y="1874520"/>
            <a:ext cx="3337560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9525">
            <a:solidFill>
              <a:srgbClr val="E4E1DB"/>
            </a:solidFill>
            <a:prstDash val="solid"/>
          </a:ln>
          <a:effectLst>
            <a:outerShdw sx="100000" sy="100000" kx="0" ky="0" algn="bl" rotWithShape="0" blurRad="228600" dist="76200" dir="5400000">
              <a:srgbClr val="262A48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503920" y="210312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3C76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8503920" y="30175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7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now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" y="3977640"/>
            <a:ext cx="10817352" cy="178308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ln w="9525">
            <a:solidFill>
              <a:srgbClr val="E4E1DB"/>
            </a:solidFill>
            <a:prstDash val="solid"/>
          </a:ln>
          <a:effectLst>
            <a:outerShdw sx="100000" sy="100000" kx="0" ky="0" algn="bl" rotWithShape="0" blurRad="228600" dist="76200" dir="5400000">
              <a:srgbClr val="262A48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14984" y="4160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1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14984" y="4480560"/>
            <a:ext cx="10149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67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grey sat at 2.68 against a 4.5 requirement and was darkened. The pass and caution pill colours both failed against their own tinted backgrounds. Form control borders were raised to 3:1 so an input is identifiable.</a:t>
            </a:r>
            <a:endParaRPr lang="en-US" sz="1300" dirty="0"/>
          </a:p>
          <a:p>
            <a:pPr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67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hairlines stay below 3:1 by choice, since 1.4.11 governs controls rather than decorative separators and the cards are already separated by fill and elevation. The audit script ships in the repository, so the claim is reproducible.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240" kern="0" dirty="0">
                <a:solidFill>
                  <a:srgbClr val="3451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SCOPE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85800" y="777240"/>
            <a:ext cx="10424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11E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deliberately did not build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10817352" cy="969264"/>
          </a:xfrm>
          <a:prstGeom prst="roundRect">
            <a:avLst>
              <a:gd name="adj" fmla="val 13208"/>
            </a:avLst>
          </a:prstGeom>
          <a:solidFill>
            <a:srgbClr val="FFFFFF"/>
          </a:solidFill>
          <a:ln w="9525">
            <a:solidFill>
              <a:srgbClr val="E4E1DB"/>
            </a:solidFill>
            <a:prstDash val="solid"/>
          </a:ln>
          <a:effectLst>
            <a:outerShdw sx="100000" sy="100000" kx="0" ky="0" algn="bl" rotWithShape="0" blurRad="228600" dist="76200" dir="5400000">
              <a:srgbClr val="262A48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2057400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211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list and filtering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532120" y="205740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7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Real, but the single submission verdict loop had to be right first.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" y="2971800"/>
            <a:ext cx="10817352" cy="969264"/>
          </a:xfrm>
          <a:prstGeom prst="roundRect">
            <a:avLst>
              <a:gd name="adj" fmla="val 13208"/>
            </a:avLst>
          </a:prstGeom>
          <a:solidFill>
            <a:srgbClr val="FFFFFF"/>
          </a:solidFill>
          <a:ln w="9525">
            <a:solidFill>
              <a:srgbClr val="E4E1DB"/>
            </a:solidFill>
            <a:prstDash val="solid"/>
          </a:ln>
          <a:effectLst>
            <a:outerShdw sx="100000" sy="100000" kx="0" ky="0" algn="bl" rotWithShape="0" blurRad="228600" dist="76200" dir="5400000">
              <a:srgbClr val="262A48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51560" y="3154680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211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by side compare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532120" y="315468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7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Genuinely useful at the finalist stage. It is a different product surface.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4069080"/>
            <a:ext cx="10817352" cy="969264"/>
          </a:xfrm>
          <a:prstGeom prst="roundRect">
            <a:avLst>
              <a:gd name="adj" fmla="val 13208"/>
            </a:avLst>
          </a:prstGeom>
          <a:solidFill>
            <a:srgbClr val="FFFFFF"/>
          </a:solidFill>
          <a:ln w="9525">
            <a:solidFill>
              <a:srgbClr val="E4E1DB"/>
            </a:solidFill>
            <a:prstDash val="solid"/>
          </a:ln>
          <a:effectLst>
            <a:outerShdw sx="100000" sy="100000" kx="0" ky="0" algn="bl" rotWithShape="0" blurRad="228600" dist="76200" dir="5400000">
              <a:srgbClr val="262A48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51560" y="4251960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211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messaging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532120" y="425196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7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Belongs to the wider hiring tool, not the review moment.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" y="5166360"/>
            <a:ext cx="10817352" cy="969264"/>
          </a:xfrm>
          <a:prstGeom prst="roundRect">
            <a:avLst>
              <a:gd name="adj" fmla="val 13208"/>
            </a:avLst>
          </a:prstGeom>
          <a:solidFill>
            <a:srgbClr val="FFFFFF"/>
          </a:solidFill>
          <a:ln w="9525">
            <a:solidFill>
              <a:srgbClr val="E4E1DB"/>
            </a:solidFill>
            <a:prstDash val="solid"/>
          </a:ln>
          <a:effectLst>
            <a:outerShdw sx="100000" sy="100000" kx="0" ky="0" algn="bl" rotWithShape="0" blurRad="228600" dist="76200" dir="5400000">
              <a:srgbClr val="262A48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51560" y="5349240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211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settings, billing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532120" y="534924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7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brief excluded them and they prove nothing about judgment.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5800" y="626364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3451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focused, polished slice beats a broad, shallow concept. That was the brief, and it is also what I believe.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31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828800"/>
            <a:ext cx="6766560" cy="6766560"/>
          </a:xfrm>
          <a:prstGeom prst="ellipse">
            <a:avLst/>
          </a:prstGeom>
          <a:solidFill>
            <a:srgbClr val="1D2536"/>
          </a:solidFill>
          <a:ln w="12700">
            <a:solidFill>
              <a:srgbClr val="1D25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09760" y="2377440"/>
            <a:ext cx="4754880" cy="4754880"/>
          </a:xfrm>
          <a:prstGeom prst="ellipse">
            <a:avLst/>
          </a:prstGeom>
          <a:solidFill>
            <a:srgbClr val="232C40"/>
          </a:solidFill>
          <a:ln w="12700">
            <a:solidFill>
              <a:srgbClr val="232C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417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60" kern="0" dirty="0">
                <a:solidFill>
                  <a:srgbClr val="8FA6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MORE TIME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1828800"/>
            <a:ext cx="7863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Compare, replay,</a:t>
            </a:r>
            <a:endParaRPr lang="en-US" sz="44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conflict.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85800" y="3977640"/>
            <a:ext cx="6949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A9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by side compare for finalists. The real deploy sandboxed inside the preview frame. A resolution path for two reviewers who disagree. And motion pushed further, since a review tool used fifteen times a day earns its polish.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5943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40" kern="0" dirty="0">
                <a:solidFill>
                  <a:srgbClr val="6D7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THANK YOU   ·   SIDDHARTH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Ledger, Design Engineer Exercise</dc:title>
  <dc:subject>PptxGenJS Presentation</dc:subject>
  <dc:creator>Siddharth</dc:creator>
  <cp:lastModifiedBy>Siddharth</cp:lastModifiedBy>
  <cp:revision>1</cp:revision>
  <dcterms:created xsi:type="dcterms:W3CDTF">2026-07-30T07:08:20Z</dcterms:created>
  <dcterms:modified xsi:type="dcterms:W3CDTF">2026-07-30T07:08:20Z</dcterms:modified>
</cp:coreProperties>
</file>